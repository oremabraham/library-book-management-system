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ED2EC-B8B6-FC1C-649A-33A6E2A6F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736E6-B9EA-99CE-C273-5A9425ECDE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AF156-25A7-0E3C-6276-76CA0AAED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D2677-A949-BDC6-585B-3CF636906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515E7-1ACB-5E8F-8B64-6F992D7F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8719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E7298-954A-B5C1-1410-D143B002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6F1A2-0E87-E0F3-666F-4B7D31F68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A698C7-717E-AE44-FAB8-99E109F4C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DD3D6-D8B0-AE51-0035-B879EBE65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37AD0-1345-5D7E-5416-DBE6EF5BC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292822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8DFA5-261D-5F95-DA57-ABFED146E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1D29-16D0-20C4-6008-04BA71498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09EAB-C51E-9FF2-0957-69484FC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AB190-2F8E-F1E0-0666-39C2366EC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7E43F-9724-30E9-E55E-D38BFBF46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27222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70398-8194-7AE2-5610-796F677B1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A0FE-682D-BC18-8B9C-802CFA5B0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C8BAE6-2A47-D7D2-C4E7-BD3C4B6A1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0483E-3B8B-B0CD-6DB5-6300849DF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79D45-A58D-31AB-C0EB-D84960F48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29AEE1-C9BA-5949-793C-7FBDB6E7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40977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4336-3FE4-25B0-8D5A-AC8DC1922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E180C-FAD7-A1A7-563C-1A58AC8A9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BDE72-5422-1151-3BAA-EAF165D5D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586BC-19E7-CCF2-F991-5881BFF78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EC9A82-B2FC-4F31-BC7F-E440937E8A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1AD225-7810-40B2-6A71-B75CB29E4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4CC176-995C-3ED2-967A-082B3D7CD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D4DC1A-EAE0-EA85-02D5-AE503B270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538705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C3F80-5729-5BE1-C1F4-2B27BAB94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F4A816-B254-B9BF-5F6D-D5E5DAEA0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C4AC4-AD22-B1E7-1BEC-2FA342900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53A6A-D033-4D8C-057E-8C0237DD0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086247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1CB3C8-4C5C-3BFC-C62D-044DA1BE2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69D4F2-E10F-415E-DBC4-8D53094C2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B4485-3784-2F6D-7CFF-9A37D4A1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187508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9E93-E4A0-0FB3-6103-593978A71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A67DC-B3D4-5652-8021-4A56FAF4B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DEF4B-A58D-C7B5-B562-D365292FE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6F36DE-BA5B-DB99-666A-3949851CE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CD39C-1852-48B5-D127-0A1F3A5ED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41EAF4-94DA-600D-B396-7D1843B2B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529593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4ECF4-3DA1-A63A-6E12-B02943EE0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5DA2F0-1949-AA6C-43FC-6CCEFD38B9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F9312-7EAF-D899-0102-AE311BA73B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3F617-DEEC-5AA8-5C18-AE992969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65A257-E19D-5AC6-9325-582E00716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E4167C-3946-CFAA-38D9-88DD5A110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326672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68DE5-2A4A-DDA2-56E2-52D56A81B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341CBE-C396-C31F-6A6F-99222C47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30AF3-41CE-F4E3-9B03-51C950786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77875-8EB9-921D-2AD9-CDF3AA502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C0BF5-0CFF-CCF4-C5EE-98D735110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4249547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87AD8B-10AE-50D3-5D61-8F7DD7760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2CFAD0-659E-2965-FEFA-81BBE5154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F2B5E5-0924-F814-D693-6CAA73BB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BFB63-FC4B-0A27-1E8D-B3990B692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0EC15-96C9-3122-0EEC-51BB965E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1915518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F2E8D0-0F59-1ACE-0219-A93025B20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D59DF4-B768-62F6-C6A0-DC8B4034C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07F77-D914-E2B6-3037-940A56E5D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2F3BC8-B76F-4FF9-8BEE-F89EC7AFE1BE}" type="datetimeFigureOut">
              <a:rPr lang="en-UG" smtClean="0"/>
              <a:t>26/05/2026</a:t>
            </a:fld>
            <a:endParaRPr 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75A59-80E3-D0DA-17C2-373CB85439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ECB0D-A0A1-AEA3-BA43-B887C972C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9DD8C-FC02-4645-9EF5-8C3179DABA6E}" type="slidenum">
              <a:rPr lang="en-UG" smtClean="0"/>
              <a:t>‹#›</a:t>
            </a:fld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2538603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21F95-69E8-73CD-373A-5402E1B0B0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TEMB 1202: COMPUTING II</a:t>
            </a:r>
            <a:br>
              <a:rPr lang="en-US" dirty="0"/>
            </a:br>
            <a:r>
              <a:rPr lang="en-US" sz="3200" dirty="0"/>
              <a:t>LIBRARY BOOK MANAGEMENT SYSTEM</a:t>
            </a:r>
            <a:endParaRPr lang="en-U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15E90-967F-4D30-3D2D-33477670FA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GROUP A EVENING</a:t>
            </a:r>
            <a:endParaRPr lang="en-UG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4B092BD-3730-74F6-7D5F-80A10DACA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337724"/>
              </p:ext>
            </p:extLst>
          </p:nvPr>
        </p:nvGraphicFramePr>
        <p:xfrm>
          <a:off x="2032000" y="4051935"/>
          <a:ext cx="8128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847980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863657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NAMES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REGISTRATION NUMBER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6165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OREM ABRAHAM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25/U/BIE/01415/PE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318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JUUKO MORRIS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25/U/BIE/01375/PE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01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OKOT CLEMENT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25/U/BIE/05306/PE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978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SANYU DORCUS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25/U/BIE/01420/PE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EDYABI BRIAN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25/U/BIE/05291/PE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755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BUYONDO EMMANUEL</a:t>
                      </a:r>
                      <a:endParaRPr lang="en-U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25/U/BIO/04517/PE</a:t>
                      </a:r>
                      <a:endParaRPr lang="en-U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7228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74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24505-1A6A-9F6C-25C3-466B9BDF8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Project Scope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763B6-2BE3-EA50-861E-71D071269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Automated Solution:</a:t>
            </a:r>
            <a:r>
              <a:rPr lang="en-US" dirty="0"/>
              <a:t> Replaces manual library record-keeping to minimize lost books and tracking errors.</a:t>
            </a:r>
          </a:p>
          <a:p>
            <a:r>
              <a:rPr lang="en-US" b="1" dirty="0"/>
              <a:t>Implementation:</a:t>
            </a:r>
            <a:r>
              <a:rPr lang="en-US" dirty="0"/>
              <a:t> Built as a complete, modular console application in C (ISO C99 standard).</a:t>
            </a:r>
          </a:p>
          <a:p>
            <a:r>
              <a:rPr lang="en-US" dirty="0"/>
              <a:t>System Capacity: Manages a dataset of up to 100 book entries and 50 registered borrower records.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3570866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C7B6B-E1B4-255C-F93E-4C0B63B21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 &amp; Objectives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DEA1A-84D7-C455-271D-ABEF6B4FF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Core Problem:</a:t>
            </a:r>
            <a:r>
              <a:rPr lang="en-US" dirty="0"/>
              <a:t> Manual systems lead to uncollected fines, unknown resource availability, and tracking inefficiencies</a:t>
            </a:r>
          </a:p>
          <a:p>
            <a:r>
              <a:rPr lang="en-US" b="1" dirty="0"/>
              <a:t>Key System Objectives:</a:t>
            </a:r>
          </a:p>
          <a:p>
            <a:pPr lvl="1"/>
            <a:r>
              <a:rPr lang="en-US" dirty="0"/>
              <a:t>Authenticate librarian access at system startup.</a:t>
            </a:r>
          </a:p>
          <a:p>
            <a:pPr lvl="1"/>
            <a:r>
              <a:rPr lang="en-US" dirty="0"/>
              <a:t>Perform robust Add, Search, Update, and Delete operations.</a:t>
            </a:r>
          </a:p>
          <a:p>
            <a:pPr lvl="1"/>
            <a:r>
              <a:rPr lang="en-US" dirty="0"/>
              <a:t>Seamlessly handle borrow and return transaction loops.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244703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D06C2-607C-2342-DC1C-C45B6FF64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 (3 Layer Design)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9E34-0E8B-8AF6-5268-F6697D0BC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User Interface Layer:</a:t>
            </a:r>
            <a:r>
              <a:rPr lang="en-US" dirty="0"/>
              <a:t> Displays clean menus and formatted terminal tables (main(), </a:t>
            </a:r>
            <a:r>
              <a:rPr lang="en-US" dirty="0" err="1"/>
              <a:t>displayMenu</a:t>
            </a:r>
            <a:r>
              <a:rPr lang="en-US" dirty="0"/>
              <a:t>()).</a:t>
            </a:r>
          </a:p>
          <a:p>
            <a:r>
              <a:rPr lang="en-US" b="1" dirty="0"/>
              <a:t>Business Logic Layer:</a:t>
            </a:r>
            <a:r>
              <a:rPr lang="en-US" dirty="0"/>
              <a:t> Enforces library policy rules and handles fine calculations (</a:t>
            </a:r>
            <a:r>
              <a:rPr lang="en-US" dirty="0" err="1"/>
              <a:t>borrowBook</a:t>
            </a:r>
            <a:r>
              <a:rPr lang="en-US" dirty="0"/>
              <a:t>(), </a:t>
            </a:r>
            <a:r>
              <a:rPr lang="en-US" dirty="0" err="1"/>
              <a:t>returnBook</a:t>
            </a:r>
            <a:r>
              <a:rPr lang="en-US" dirty="0"/>
              <a:t>()).</a:t>
            </a:r>
          </a:p>
          <a:p>
            <a:r>
              <a:rPr lang="en-US" b="1" dirty="0"/>
              <a:t>Data Management Layer:</a:t>
            </a:r>
            <a:r>
              <a:rPr lang="en-US" dirty="0"/>
              <a:t> Handles modifications directly within fixed memory data blocks (</a:t>
            </a:r>
            <a:r>
              <a:rPr lang="en-US" dirty="0" err="1"/>
              <a:t>addBook</a:t>
            </a:r>
            <a:r>
              <a:rPr lang="en-US" dirty="0"/>
              <a:t>(), </a:t>
            </a:r>
            <a:r>
              <a:rPr lang="en-US" dirty="0" err="1"/>
              <a:t>deleteBook</a:t>
            </a:r>
            <a:r>
              <a:rPr lang="en-US" dirty="0"/>
              <a:t>()).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3353996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001C3-9880-394A-5126-1743CC0A4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Data Structures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76EB-9216-E4DF-9292-9A76466BD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5DBE11-D92B-C7B9-BAEF-34F9CD839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983021"/>
              </p:ext>
            </p:extLst>
          </p:nvPr>
        </p:nvGraphicFramePr>
        <p:xfrm>
          <a:off x="1602232" y="2501900"/>
          <a:ext cx="8739632" cy="3423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9816">
                  <a:extLst>
                    <a:ext uri="{9D8B030D-6E8A-4147-A177-3AD203B41FA5}">
                      <a16:colId xmlns:a16="http://schemas.microsoft.com/office/drawing/2014/main" val="211966020"/>
                    </a:ext>
                  </a:extLst>
                </a:gridCol>
                <a:gridCol w="4369816">
                  <a:extLst>
                    <a:ext uri="{9D8B030D-6E8A-4147-A177-3AD203B41FA5}">
                      <a16:colId xmlns:a16="http://schemas.microsoft.com/office/drawing/2014/main" val="196801347"/>
                    </a:ext>
                  </a:extLst>
                </a:gridCol>
              </a:tblGrid>
              <a:tr h="684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Member</a:t>
                      </a:r>
                      <a:r>
                        <a:rPr lang="en-US" dirty="0"/>
                        <a:t> Struct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Book</a:t>
                      </a:r>
                      <a:r>
                        <a:rPr lang="en-US" dirty="0"/>
                        <a:t> Struct Fields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0151670"/>
                  </a:ext>
                </a:extLst>
              </a:tr>
              <a:tr h="684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Unique Member ID &amp;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Unique ID &amp; ISBN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2252173"/>
                  </a:ext>
                </a:extLst>
              </a:tr>
              <a:tr h="684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Active Borrowed Book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Title &amp; Author strings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9801545"/>
                  </a:ext>
                </a:extLst>
              </a:tr>
              <a:tr h="684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Due date tracker 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 vs. Available copy counters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1696881"/>
                  </a:ext>
                </a:extLst>
              </a:tr>
              <a:tr h="684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Outstanding fine balance.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Borrow count tracker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096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15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3F6AB-C8FC-39CF-CD2F-0AD444BCB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Capabilities 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C1ED9-B663-111E-2674-89F9D9C78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Authentication:</a:t>
            </a:r>
            <a:r>
              <a:rPr lang="en-US" dirty="0"/>
              <a:t> Grants access via a secure three-attempt login gateway (admin/lib2026).</a:t>
            </a:r>
          </a:p>
          <a:p>
            <a:r>
              <a:rPr lang="en-US" b="1" dirty="0"/>
              <a:t>Inventory Control:</a:t>
            </a:r>
            <a:r>
              <a:rPr lang="en-US" dirty="0"/>
              <a:t> Comprehensive duplicate checks for IDs and ISBNs during registration.</a:t>
            </a:r>
          </a:p>
          <a:p>
            <a:r>
              <a:rPr lang="en-US" b="1" dirty="0"/>
              <a:t>Flexible Querying:</a:t>
            </a:r>
            <a:r>
              <a:rPr lang="en-US" dirty="0"/>
              <a:t> Supports multi-mode lookups by exact book ID, title keyword, or author name.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332408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81046-3202-5F23-874A-409D4014B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&amp; Business Rules 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B6346-E79E-1D9F-280E-FBE259456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BR-1 &amp; BR-2:</a:t>
            </a:r>
            <a:r>
              <a:rPr lang="en-US" dirty="0"/>
              <a:t> Checks copy availability; returns explicit "All copies borrowed" prompt if empty</a:t>
            </a:r>
          </a:p>
          <a:p>
            <a:r>
              <a:rPr lang="en-US" b="1" dirty="0"/>
              <a:t>BR-3:</a:t>
            </a:r>
            <a:r>
              <a:rPr lang="en-US" dirty="0"/>
              <a:t> Applies late penalties of </a:t>
            </a:r>
            <a:r>
              <a:rPr lang="en-US" b="1" dirty="0"/>
              <a:t>500 UGX per day</a:t>
            </a:r>
            <a:r>
              <a:rPr lang="en-US" dirty="0"/>
              <a:t> on overdue returns</a:t>
            </a:r>
          </a:p>
          <a:p>
            <a:r>
              <a:rPr lang="en-US" b="1" dirty="0"/>
              <a:t>BR-4:</a:t>
            </a:r>
            <a:r>
              <a:rPr lang="en-US" dirty="0"/>
              <a:t> Completely freezes account borrowing privileges if a user has unpaid fines.</a:t>
            </a:r>
          </a:p>
          <a:p>
            <a:r>
              <a:rPr lang="en-US" dirty="0"/>
              <a:t>Automatically tags books as [HIGH DEMAND] when total lifetime borrows reach 5.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19760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0A8-08F0-6165-DF25-0E61881BB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Summary Reporting 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48CD9-D547-0724-7FA9-EF7FD5DF0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Real-time Evaluation:</a:t>
            </a:r>
            <a:r>
              <a:rPr lang="en-US" dirty="0"/>
              <a:t> Loops sequentially through active arrays to compile real-time operations.</a:t>
            </a:r>
          </a:p>
          <a:p>
            <a:r>
              <a:rPr lang="en-US" b="1" dirty="0"/>
              <a:t>Metrics Generated: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Total inventory and active out-on-loan books.</a:t>
            </a:r>
          </a:p>
          <a:p>
            <a:pPr lvl="1"/>
            <a:r>
              <a:rPr lang="en-US" dirty="0"/>
              <a:t>Cumulative outstanding revenue from overdue items.</a:t>
            </a:r>
          </a:p>
          <a:p>
            <a:pPr lvl="1"/>
            <a:r>
              <a:rPr lang="en-US" dirty="0"/>
              <a:t>Live high demand analysis pinpointing the most borrowed resource.</a:t>
            </a:r>
          </a:p>
        </p:txBody>
      </p:sp>
    </p:spTree>
    <p:extLst>
      <p:ext uri="{BB962C8B-B14F-4D97-AF65-F5344CB8AC3E}">
        <p14:creationId xmlns:p14="http://schemas.microsoft.com/office/powerpoint/2010/main" val="82464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0C184-8F20-CD99-64FF-B6B3DFB4D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Framework &amp; Success Metrics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E263F-C6A4-33A2-768B-B9B743677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Boundary Testing:</a:t>
            </a:r>
            <a:r>
              <a:rPr lang="en-US" dirty="0"/>
              <a:t> Verified system responses for input errors like duplicate records or over-limit deletes.</a:t>
            </a:r>
          </a:p>
          <a:p>
            <a:r>
              <a:rPr lang="en-US" b="1" dirty="0"/>
              <a:t>Functional Checks:</a:t>
            </a:r>
            <a:r>
              <a:rPr lang="en-US" dirty="0"/>
              <a:t> Validated correct fine accumulation tracking and borrow-blocking limits.</a:t>
            </a:r>
          </a:p>
          <a:p>
            <a:r>
              <a:rPr lang="en-US" b="1" dirty="0"/>
              <a:t>Status:</a:t>
            </a:r>
            <a:r>
              <a:rPr lang="en-US" dirty="0"/>
              <a:t> Passed 100% of the structured testing protocols.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553345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F8C4F-F278-01C7-9829-3A61D147A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Project Achievements</a:t>
            </a:r>
            <a:endParaRPr lang="en-U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2C7C7-7037-E68B-4132-EE90C82C7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Outcome:</a:t>
            </a:r>
            <a:r>
              <a:rPr lang="en-US" dirty="0"/>
              <a:t> Fulfills all programmatic requirements assigned for the Computing II course.</a:t>
            </a:r>
          </a:p>
          <a:p>
            <a:r>
              <a:rPr lang="en-US" b="1" dirty="0"/>
              <a:t>Curriculum Integration:</a:t>
            </a:r>
            <a:r>
              <a:rPr lang="en-US" dirty="0"/>
              <a:t> Demonstrates safe file/buffer processing, multi-struct linking, and pointer logic in C.</a:t>
            </a:r>
          </a:p>
          <a:p>
            <a:r>
              <a:rPr lang="en-US" b="1" dirty="0"/>
              <a:t>Future Extensions:</a:t>
            </a:r>
            <a:r>
              <a:rPr lang="en-US" dirty="0"/>
              <a:t> Data storage persistence across sessions and multiple simultaneous book loans.</a:t>
            </a:r>
            <a:endParaRPr lang="en-UG" dirty="0"/>
          </a:p>
        </p:txBody>
      </p:sp>
    </p:spTree>
    <p:extLst>
      <p:ext uri="{BB962C8B-B14F-4D97-AF65-F5344CB8AC3E}">
        <p14:creationId xmlns:p14="http://schemas.microsoft.com/office/powerpoint/2010/main" val="1861744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537</Words>
  <Application>Microsoft Office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TEMB 1202: COMPUTING II LIBRARY BOOK MANAGEMENT SYSTEM</vt:lpstr>
      <vt:lpstr>Introduction and Project Scope</vt:lpstr>
      <vt:lpstr>Problem Statement &amp; Objectives</vt:lpstr>
      <vt:lpstr>System Architecture (3 Layer Design)</vt:lpstr>
      <vt:lpstr>Structural Data Structures</vt:lpstr>
      <vt:lpstr>Application Capabilities </vt:lpstr>
      <vt:lpstr>Validation &amp; Business Rules </vt:lpstr>
      <vt:lpstr>Analytical Summary Reporting </vt:lpstr>
      <vt:lpstr>Testing Framework &amp; Success Metrics</vt:lpstr>
      <vt:lpstr>Summary of Project Achievements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Abraham Trente</dc:creator>
  <cp:lastModifiedBy>Abraham Trente</cp:lastModifiedBy>
  <cp:revision>1</cp:revision>
  <dcterms:created xsi:type="dcterms:W3CDTF">2026-05-26T11:45:53Z</dcterms:created>
  <dcterms:modified xsi:type="dcterms:W3CDTF">2026-05-26T11:46:27Z</dcterms:modified>
</cp:coreProperties>
</file>